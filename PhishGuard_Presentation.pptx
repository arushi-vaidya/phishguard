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91440"/>
            <a:ext cx="822960" cy="822960"/>
          </a:xfrm>
          <a:prstGeom prst="hexagon">
            <a:avLst/>
          </a:prstGeom>
          <a:solidFill>
            <a:srgbClr val="0D1B3E">
              <a:alpha val="70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640080"/>
            <a:ext cx="822960" cy="822960"/>
          </a:xfrm>
          <a:prstGeom prst="hexagon">
            <a:avLst/>
          </a:prstGeom>
          <a:solidFill>
            <a:srgbClr val="0D1B3E">
              <a:alpha val="70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280160"/>
            <a:ext cx="822960" cy="822960"/>
          </a:xfrm>
          <a:prstGeom prst="hexagon">
            <a:avLst/>
          </a:prstGeom>
          <a:solidFill>
            <a:srgbClr val="0D1B3E">
              <a:alpha val="70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182880"/>
            <a:ext cx="822960" cy="822960"/>
          </a:xfrm>
          <a:prstGeom prst="hexagon">
            <a:avLst/>
          </a:prstGeom>
          <a:solidFill>
            <a:srgbClr val="0D1B3E">
              <a:alpha val="70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914400"/>
            <a:ext cx="822960" cy="822960"/>
          </a:xfrm>
          <a:prstGeom prst="hexagon">
            <a:avLst/>
          </a:prstGeom>
          <a:solidFill>
            <a:srgbClr val="0D1B3E">
              <a:alpha val="70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920240"/>
            <a:ext cx="822960" cy="822960"/>
          </a:xfrm>
          <a:prstGeom prst="hexagon">
            <a:avLst/>
          </a:prstGeom>
          <a:solidFill>
            <a:srgbClr val="0D1B3E">
              <a:alpha val="70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1371600"/>
            <a:ext cx="822960" cy="822960"/>
          </a:xfrm>
          <a:prstGeom prst="hexagon">
            <a:avLst/>
          </a:prstGeom>
          <a:solidFill>
            <a:srgbClr val="0D1B3E">
              <a:alpha val="70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 College of Engineering  |  VI Semester  |  NPS Lab EL  |  Phase-I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3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Real-Time Phishing Detection at the Network Layer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intercept phishing attacks before they ever reach the user's browser.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2560320" cy="804672"/>
          </a:xfrm>
          <a:prstGeom prst="rect">
            <a:avLst/>
          </a:prstGeom>
          <a:solidFill>
            <a:srgbClr val="132340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AA7"/>
                </a:solidFill>
              </a:rPr>
              <a:t>92%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</a:rPr>
              <a:t>Cross-Val Accuracy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3429000"/>
            <a:ext cx="2560320" cy="804672"/>
          </a:xfrm>
          <a:prstGeom prst="rect">
            <a:avLst/>
          </a:prstGeom>
          <a:solidFill>
            <a:srgbClr val="132340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4612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AA7"/>
                </a:solidFill>
              </a:rPr>
              <a:t>&lt;50ms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4612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</a:rPr>
              <a:t>Inference Latency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3429000"/>
            <a:ext cx="2560320" cy="804672"/>
          </a:xfrm>
          <a:prstGeom prst="rect">
            <a:avLst/>
          </a:prstGeom>
          <a:solidFill>
            <a:srgbClr val="132340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AA7"/>
                </a:solidFill>
              </a:rPr>
              <a:t>48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03504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</a:rPr>
              <a:t>Engineered Features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AABF"/>
                </a:solidFill>
              </a:rPr>
              <a:t>Team: Arushi Vaidya (1RV23CS049)  ·  Aryan Gupta (1RV23CS051)  ·  Avyay Bhat (1RV23CS058)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56032"/>
          </a:xfrm>
          <a:prstGeom prst="rect">
            <a:avLst>
              <a:gd name="adj" fmla="val 28571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Defenses Are Failing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69848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160520" cy="1600200"/>
          </a:xfrm>
          <a:prstGeom prst="rect">
            <a:avLst/>
          </a:prstGeom>
          <a:solidFill>
            <a:srgbClr val="132340"/>
          </a:solidFill>
          <a:ln w="12700">
            <a:solidFill>
              <a:srgbClr val="1A30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54864" cy="1600200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344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Detection Latency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67335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8C0CC"/>
                </a:solidFill>
              </a:rPr>
              <a:t>Phishing pages go live for 24+ hours before blacklists update. Attackers harvest credentials and rotate infrastructure before a domain is ever flagged.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60520" cy="1600200"/>
          </a:xfrm>
          <a:prstGeom prst="rect">
            <a:avLst/>
          </a:prstGeom>
          <a:solidFill>
            <a:srgbClr val="132340"/>
          </a:solidFill>
          <a:ln w="12700">
            <a:solidFill>
              <a:srgbClr val="1A30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54864" cy="1600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344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Client-Side Blind Spots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65192" y="167335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8C0CC"/>
                </a:solidFill>
              </a:rPr>
              <a:t>DNS-based phishing &amp; HTTP redirect chains completely evade host-based tools. 30–40% of phishing sites use HTTPS, bypassing HTTP-only inspection.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4160520" cy="1600200"/>
          </a:xfrm>
          <a:prstGeom prst="rect">
            <a:avLst/>
          </a:prstGeom>
          <a:solidFill>
            <a:srgbClr val="132340"/>
          </a:solidFill>
          <a:ln w="12700">
            <a:solidFill>
              <a:srgbClr val="1A30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17520"/>
            <a:ext cx="54864" cy="1600200"/>
          </a:xfrm>
          <a:prstGeom prst="rect">
            <a:avLst/>
          </a:prstGeom>
          <a:solidFill>
            <a:srgbClr val="8DAABF"/>
          </a:solidFill>
          <a:ln w="12700">
            <a:solidFill>
              <a:srgbClr val="8DAA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127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Signature-Only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" y="34564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8C0CC"/>
                </a:solidFill>
              </a:rPr>
              <a:t>Rule-based systems cannot adapt to polymorphic DGAs (Domain Generation Algorithms) or zero-day campaigns — missing 30–40% of credential-harvesting attacks.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4160520" cy="1600200"/>
          </a:xfrm>
          <a:prstGeom prst="rect">
            <a:avLst/>
          </a:prstGeom>
          <a:solidFill>
            <a:srgbClr val="132340"/>
          </a:solidFill>
          <a:ln w="12700">
            <a:solidFill>
              <a:srgbClr val="1A30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017520"/>
            <a:ext cx="54864" cy="1600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3127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Unified Feature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5192" y="34564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8C0CC"/>
                </a:solidFill>
              </a:rPr>
              <a:t>No existing open system correlates URL structure + DNS signals + HTTP payload content + TLS metadata in a single real-time classifier with explainable confidence.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709160"/>
            <a:ext cx="8321040" cy="292608"/>
          </a:xfrm>
          <a:prstGeom prst="rect">
            <a:avLst/>
          </a:prstGeom>
          <a:solidFill>
            <a:srgbClr val="0E9AA7">
              <a:alpha val="15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27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FCFCF"/>
                </a:solidFill>
              </a:rPr>
              <a:t>70% of phishing sites are NOT on blacklists when users first visit them  ·  91% of cyberattacks begin with a phishing link  ·  $4.9M avg breach cost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56032"/>
          </a:xfrm>
          <a:prstGeom prst="rect">
            <a:avLst>
              <a:gd name="adj" fmla="val 28571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69848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1508760" cy="13716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Sniffer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5087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Scapy / libpcap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promiscuous mode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83080" y="1783080"/>
            <a:ext cx="228600" cy="54864"/>
          </a:xfrm>
          <a:prstGeom prst="rect">
            <a:avLst/>
          </a:prstGeom>
          <a:solidFill>
            <a:srgbClr val="8DAABF"/>
          </a:solidFill>
          <a:ln w="12700">
            <a:solidFill>
              <a:srgbClr val="8DAA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3664" y="1719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AABF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1170432"/>
            <a:ext cx="1508760" cy="1371600"/>
          </a:xfrm>
          <a:prstGeom prst="rect">
            <a:avLst/>
          </a:prstGeom>
          <a:solidFill>
            <a:srgbClr val="1A7AB5"/>
          </a:solidFill>
          <a:ln w="12700">
            <a:solidFill>
              <a:srgbClr val="1A7A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737360"/>
            <a:ext cx="15087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48 features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DNS·TLS·HTTP·URL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20440" y="1783080"/>
            <a:ext cx="228600" cy="54864"/>
          </a:xfrm>
          <a:prstGeom prst="rect">
            <a:avLst/>
          </a:prstGeom>
          <a:solidFill>
            <a:srgbClr val="8DAABF"/>
          </a:solidFill>
          <a:ln w="12700">
            <a:solidFill>
              <a:srgbClr val="8DAA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1024" y="1719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AABF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49040" y="1170432"/>
            <a:ext cx="1508760" cy="1371600"/>
          </a:xfrm>
          <a:prstGeom prst="rect">
            <a:avLst/>
          </a:prstGeom>
          <a:solidFill>
            <a:srgbClr val="7B4FBF"/>
          </a:solidFill>
          <a:ln w="12700">
            <a:solidFill>
              <a:srgbClr val="7B4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1737360"/>
            <a:ext cx="15087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Random Forest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100 trees, depth 15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57800" y="1783080"/>
            <a:ext cx="228600" cy="54864"/>
          </a:xfrm>
          <a:prstGeom prst="rect">
            <a:avLst/>
          </a:prstGeom>
          <a:solidFill>
            <a:srgbClr val="8DAABF"/>
          </a:solidFill>
          <a:ln w="12700">
            <a:solidFill>
              <a:srgbClr val="8DAA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719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AABF"/>
                </a:solidFill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0" y="1170432"/>
            <a:ext cx="1508760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1737360"/>
            <a:ext cx="15087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Block·Alert·Log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threshold scoring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95160" y="1783080"/>
            <a:ext cx="228600" cy="54864"/>
          </a:xfrm>
          <a:prstGeom prst="rect">
            <a:avLst/>
          </a:prstGeom>
          <a:solidFill>
            <a:srgbClr val="8DAABF"/>
          </a:solidFill>
          <a:ln w="12700">
            <a:solidFill>
              <a:srgbClr val="8DAA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95744" y="1719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AABF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23760" y="1170432"/>
            <a:ext cx="1508760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1737360"/>
            <a:ext cx="15087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DNS sinkhole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8E8"/>
                </a:solidFill>
              </a:rPr>
              <a:t>Proxy block·JSONL log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27889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DAABF"/>
                </a:solidFill>
              </a:rPr>
              <a:t>48 Engineered Features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108960"/>
            <a:ext cx="2011680" cy="1737360"/>
          </a:xfrm>
          <a:prstGeom prst="rect">
            <a:avLst/>
          </a:prstGeom>
          <a:solidFill>
            <a:srgbClr val="132340"/>
          </a:solidFill>
          <a:ln w="12700">
            <a:solidFill>
              <a:srgbClr val="1A30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108960"/>
            <a:ext cx="54864" cy="1737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31455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DNS Features (11)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" y="3456432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A8C0CC"/>
                </a:solidFill>
              </a:rPr>
              <a:t>TTL value · Query entropy · Response time · Query type · Response code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0" y="3108960"/>
            <a:ext cx="2011680" cy="1737360"/>
          </a:xfrm>
          <a:prstGeom prst="rect">
            <a:avLst/>
          </a:prstGeom>
          <a:solidFill>
            <a:srgbClr val="132340"/>
          </a:solidFill>
          <a:ln w="12700">
            <a:solidFill>
              <a:srgbClr val="1A30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0" y="3108960"/>
            <a:ext cx="54864" cy="1737360"/>
          </a:xfrm>
          <a:prstGeom prst="rect">
            <a:avLst/>
          </a:prstGeom>
          <a:solidFill>
            <a:srgbClr val="1A7AB5"/>
          </a:solidFill>
          <a:ln w="12700">
            <a:solidFill>
              <a:srgbClr val="1A7A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24912" y="31455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TLS Features (10)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24912" y="3456432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A8C0CC"/>
                </a:solidFill>
              </a:rPr>
              <a:t>TLS version · Cert age · Cert issuer · Chain length · SNI patterns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3108960"/>
            <a:ext cx="2011680" cy="1737360"/>
          </a:xfrm>
          <a:prstGeom prst="rect">
            <a:avLst/>
          </a:prstGeom>
          <a:solidFill>
            <a:srgbClr val="132340"/>
          </a:solidFill>
          <a:ln w="12700">
            <a:solidFill>
              <a:srgbClr val="1A30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108960"/>
            <a:ext cx="54864" cy="1737360"/>
          </a:xfrm>
          <a:prstGeom prst="rect">
            <a:avLst/>
          </a:prstGeom>
          <a:solidFill>
            <a:srgbClr val="7B4FBF"/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31455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Traffic Flow (13)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73752" y="3456432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A8C0CC"/>
                </a:solidFill>
              </a:rPr>
              <a:t>Packet count · Flow duration · Inter-arrival time · Port patterns · Packet sizes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58000" y="3108960"/>
            <a:ext cx="2011680" cy="1737360"/>
          </a:xfrm>
          <a:prstGeom prst="rect">
            <a:avLst/>
          </a:prstGeom>
          <a:solidFill>
            <a:srgbClr val="132340"/>
          </a:solidFill>
          <a:ln w="12700">
            <a:solidFill>
              <a:srgbClr val="1A30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58000" y="3108960"/>
            <a:ext cx="54864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22592" y="31455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Domain Chars (14)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22592" y="3456432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A8C0CC"/>
                </a:solidFill>
              </a:rPr>
              <a:t>Domain length · Entropy · Hyphen count · Special chars · Subdomain depth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solidFill>
            <a:srgbClr val="132340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FCFCF"/>
                </a:solidFill>
              </a:rPr>
              <a:t>🔑 Key Insight: Phishing domains show entropy &gt;4.5 · Legitimate sites show entropy &lt;3.5 · No payload decryption required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56032"/>
          </a:xfrm>
          <a:prstGeom prst="rect">
            <a:avLst>
              <a:gd name="adj" fmla="val 28571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Implementation Details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69848"/>
            <a:ext cx="832104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70432"/>
            <a:ext cx="8321040" cy="420624"/>
          </a:xfrm>
          <a:prstGeom prst="rect">
            <a:avLst/>
          </a:prstGeom>
          <a:solidFill>
            <a:srgbClr val="132340"/>
          </a:solidFill>
          <a:ln w="6350">
            <a:solidFill>
              <a:srgbClr val="1A30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70432"/>
            <a:ext cx="54864" cy="42062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Packet Capture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11680" y="1234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CFCF"/>
                </a:solidFill>
              </a:rPr>
              <a:t>Scapy 2.5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29000" y="123444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CC"/>
                </a:solidFill>
              </a:rPr>
              <a:t>Promiscuous mode · DNS &amp; TLS SNI extraction · Background threads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623060"/>
            <a:ext cx="8321040" cy="420624"/>
          </a:xfrm>
          <a:prstGeom prst="rect">
            <a:avLst/>
          </a:prstGeom>
          <a:solidFill>
            <a:srgbClr val="0F1E38"/>
          </a:solidFill>
          <a:ln w="6350">
            <a:solidFill>
              <a:srgbClr val="1A30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623060"/>
            <a:ext cx="54864" cy="42062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870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 Engine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16870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CFCF"/>
                </a:solidFill>
              </a:rPr>
              <a:t>NumPy / pandas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29000" y="168706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CC"/>
                </a:solidFill>
              </a:rPr>
              <a:t>48 features per domain · StandardScaler normalization · CSV/JSON output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075688"/>
            <a:ext cx="8321040" cy="420624"/>
          </a:xfrm>
          <a:prstGeom prst="rect">
            <a:avLst/>
          </a:prstGeom>
          <a:solidFill>
            <a:srgbClr val="132340"/>
          </a:solidFill>
          <a:ln w="6350">
            <a:solidFill>
              <a:srgbClr val="1A30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075688"/>
            <a:ext cx="54864" cy="420624"/>
          </a:xfrm>
          <a:prstGeom prst="rect">
            <a:avLst/>
          </a:prstGeom>
          <a:solidFill>
            <a:srgbClr val="7B4FB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39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ML Pipeline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0" y="21396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CFCF"/>
                </a:solidFill>
              </a:rPr>
              <a:t>scikit-learn 1.4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2139696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CC"/>
                </a:solidFill>
              </a:rPr>
              <a:t>Random Forest (100 trees, max_depth=15) · 5-fold CV · pickle serialization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528316"/>
            <a:ext cx="8321040" cy="420624"/>
          </a:xfrm>
          <a:prstGeom prst="rect">
            <a:avLst/>
          </a:prstGeom>
          <a:solidFill>
            <a:srgbClr val="0F1E38"/>
          </a:solidFill>
          <a:ln w="6350">
            <a:solidFill>
              <a:srgbClr val="1A30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528316"/>
            <a:ext cx="54864" cy="420624"/>
          </a:xfrm>
          <a:prstGeom prst="rect">
            <a:avLst/>
          </a:prstGeom>
          <a:solidFill>
            <a:srgbClr val="7B4FB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5923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Ensemble Alt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11680" y="25923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CFCF"/>
                </a:solidFill>
              </a:rPr>
              <a:t>XGBoost 2.0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29000" y="259232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CC"/>
                </a:solidFill>
              </a:rPr>
              <a:t>Matched RF at 92.31% CV accuracy · Used as challenger model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980944"/>
            <a:ext cx="8321040" cy="420624"/>
          </a:xfrm>
          <a:prstGeom prst="rect">
            <a:avLst/>
          </a:prstGeom>
          <a:solidFill>
            <a:srgbClr val="132340"/>
          </a:solidFill>
          <a:ln w="6350">
            <a:solidFill>
              <a:srgbClr val="1A30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980944"/>
            <a:ext cx="54864" cy="4206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0449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Real-Time Engine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11680" y="3044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CFCF"/>
                </a:solidFill>
              </a:rPr>
              <a:t>Python threads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29000" y="30449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CC"/>
                </a:solidFill>
              </a:rPr>
              <a:t>Loads .pkl model + scaler · &lt;50ms latency per query · confidence scoring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433572"/>
            <a:ext cx="8321040" cy="420624"/>
          </a:xfrm>
          <a:prstGeom prst="rect">
            <a:avLst/>
          </a:prstGeom>
          <a:solidFill>
            <a:srgbClr val="0F1E38"/>
          </a:solidFill>
          <a:ln w="6350">
            <a:solidFill>
              <a:srgbClr val="1A30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433572"/>
            <a:ext cx="54864" cy="4206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4975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Decision Engine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011680" y="34975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CFCF"/>
                </a:solidFill>
              </a:rPr>
              <a:t>Custom thresholds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29000" y="34975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CC"/>
                </a:solidFill>
              </a:rPr>
              <a:t>BLOCK &gt;85% · ALERT 65–85% · LOG_ONLY &lt;65% · JSONL audit trail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3886200"/>
            <a:ext cx="8321040" cy="420624"/>
          </a:xfrm>
          <a:prstGeom prst="rect">
            <a:avLst/>
          </a:prstGeom>
          <a:solidFill>
            <a:srgbClr val="132340"/>
          </a:solidFill>
          <a:ln w="6350">
            <a:solidFill>
              <a:srgbClr val="1A30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3886200"/>
            <a:ext cx="54864" cy="42062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9502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Backend API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011680" y="3950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CFCF"/>
                </a:solidFill>
              </a:rPr>
              <a:t>Flask 3.0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29000" y="395020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CC"/>
                </a:solidFill>
              </a:rPr>
              <a:t>REST API · Dashboard UI · Real-time monitoring endpoint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4338828"/>
            <a:ext cx="8321040" cy="420624"/>
          </a:xfrm>
          <a:prstGeom prst="rect">
            <a:avLst/>
          </a:prstGeom>
          <a:solidFill>
            <a:srgbClr val="0F1E38"/>
          </a:solidFill>
          <a:ln w="6350">
            <a:solidFill>
              <a:srgbClr val="1A30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338828"/>
            <a:ext cx="54864" cy="42062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4028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Verification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011680" y="44028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CFCF"/>
                </a:solidFill>
              </a:rPr>
              <a:t>Google Gemini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29000" y="4402836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CC"/>
                </a:solidFill>
              </a:rPr>
              <a:t>Secondary verification pass for borderline confidence cases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9875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ABF"/>
                </a:solidFill>
              </a:rPr>
              <a:t>LAYER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011680" y="9875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ABF"/>
                </a:solidFill>
              </a:rPr>
              <a:t>TECHNOLOGY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429000" y="98755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ABF"/>
                </a:solidFill>
              </a:rPr>
              <a:t>IMPLEMENTATION DETAIL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</dc:title>
  <dc:subject>PptxGenJS Presentation</dc:subject>
  <dc:creator>PptxGenJS</dc:creator>
  <cp:lastModifiedBy>PptxGenJS</cp:lastModifiedBy>
  <cp:revision>1</cp:revision>
  <dcterms:created xsi:type="dcterms:W3CDTF">2026-05-11T18:34:52Z</dcterms:created>
  <dcterms:modified xsi:type="dcterms:W3CDTF">2026-05-11T18:34:52Z</dcterms:modified>
</cp:coreProperties>
</file>